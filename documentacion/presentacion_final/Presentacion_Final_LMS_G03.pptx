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113f3c264eb49f5" /><Relationship Type="http://schemas.openxmlformats.org/officeDocument/2006/relationships/extended-properties" Target="/docProps/app.xml" Id="Racf4d75ad28843b9" /><Relationship Type="http://schemas.openxmlformats.org/officeDocument/2006/relationships/officeDocument" Target="/ppt/presentation.xml" Id="R02a396508c424e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b183843c74413a"/>
  </p:sldMasterIdLst>
  <p:notesMasterIdLst>
    <p:notesMasterId xmlns:r="http://schemas.openxmlformats.org/officeDocument/2006/relationships" r:id="Rabc6531170754d09"/>
  </p:notesMasterIdLst>
  <p:sldIdLst>
    <p:sldId xmlns:r="http://schemas.openxmlformats.org/officeDocument/2006/relationships" id="256" r:id="Rc0bb3fbeb763412d"/>
    <p:sldId xmlns:r="http://schemas.openxmlformats.org/officeDocument/2006/relationships" id="257" r:id="Rafb8a9188b224e9d"/>
    <p:sldId xmlns:r="http://schemas.openxmlformats.org/officeDocument/2006/relationships" id="258" r:id="Ra260933e218d453e"/>
    <p:sldId xmlns:r="http://schemas.openxmlformats.org/officeDocument/2006/relationships" id="259" r:id="R3c96e7ba8b1e4db8"/>
    <p:sldId xmlns:r="http://schemas.openxmlformats.org/officeDocument/2006/relationships" id="260" r:id="Rd868219068254978"/>
    <p:sldId xmlns:r="http://schemas.openxmlformats.org/officeDocument/2006/relationships" id="261" r:id="R02f6d4f6739f4aa9"/>
    <p:sldId xmlns:r="http://schemas.openxmlformats.org/officeDocument/2006/relationships" id="262" r:id="Reef942a75a6946f2"/>
    <p:sldId xmlns:r="http://schemas.openxmlformats.org/officeDocument/2006/relationships" id="263" r:id="R1918d61735c94d1f"/>
    <p:sldId xmlns:r="http://schemas.openxmlformats.org/officeDocument/2006/relationships" id="264" r:id="Rb0ce0f6904054373"/>
    <p:sldId xmlns:r="http://schemas.openxmlformats.org/officeDocument/2006/relationships" id="265" r:id="Re78fdd501dd2471b"/>
    <p:sldId xmlns:r="http://schemas.openxmlformats.org/officeDocument/2006/relationships" id="266" r:id="Ra3ac8100ad714cd3"/>
    <p:sldId xmlns:r="http://schemas.openxmlformats.org/officeDocument/2006/relationships" id="267" r:id="R9bf583f99373497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20f20ceaa59418f" /><Relationship Type="http://schemas.openxmlformats.org/officeDocument/2006/relationships/slideMaster" Target="/ppt/slideMasters/slideMaster1.xml" Id="R38b183843c74413a" /><Relationship Type="http://schemas.openxmlformats.org/officeDocument/2006/relationships/notesMaster" Target="/ppt/notesMasters/notesMaster1.xml" Id="Rabc6531170754d09" /><Relationship Type="http://schemas.openxmlformats.org/officeDocument/2006/relationships/presProps" Target="/ppt/presProps.xml" Id="Rbdc4dcc9c72e43c3" /><Relationship Type="http://schemas.openxmlformats.org/officeDocument/2006/relationships/tableStyles" Target="/ppt/tableStyles.xml" Id="Red035c0ec2ed45bc" /><Relationship Type="http://schemas.openxmlformats.org/officeDocument/2006/relationships/slide" Target="/ppt/slides/slide1.xml" Id="Rc0bb3fbeb763412d" /><Relationship Type="http://schemas.openxmlformats.org/officeDocument/2006/relationships/slide" Target="/ppt/slides/slide2.xml" Id="Rafb8a9188b224e9d" /><Relationship Type="http://schemas.openxmlformats.org/officeDocument/2006/relationships/slide" Target="/ppt/slides/slide3.xml" Id="Ra260933e218d453e" /><Relationship Type="http://schemas.openxmlformats.org/officeDocument/2006/relationships/slide" Target="/ppt/slides/slide4.xml" Id="R3c96e7ba8b1e4db8" /><Relationship Type="http://schemas.openxmlformats.org/officeDocument/2006/relationships/slide" Target="/ppt/slides/slide5.xml" Id="Rd868219068254978" /><Relationship Type="http://schemas.openxmlformats.org/officeDocument/2006/relationships/slide" Target="/ppt/slides/slide6.xml" Id="R02f6d4f6739f4aa9" /><Relationship Type="http://schemas.openxmlformats.org/officeDocument/2006/relationships/slide" Target="/ppt/slides/slide7.xml" Id="Reef942a75a6946f2" /><Relationship Type="http://schemas.openxmlformats.org/officeDocument/2006/relationships/slide" Target="/ppt/slides/slide8.xml" Id="R1918d61735c94d1f" /><Relationship Type="http://schemas.openxmlformats.org/officeDocument/2006/relationships/slide" Target="/ppt/slides/slide9.xml" Id="Rb0ce0f6904054373" /><Relationship Type="http://schemas.openxmlformats.org/officeDocument/2006/relationships/slide" Target="/ppt/slides/slide10.xml" Id="Re78fdd501dd2471b" /><Relationship Type="http://schemas.openxmlformats.org/officeDocument/2006/relationships/slide" Target="/ppt/slides/slide11.xml" Id="Ra3ac8100ad714cd3" /><Relationship Type="http://schemas.openxmlformats.org/officeDocument/2006/relationships/slide" Target="/ppt/slides/slide12.xml" Id="R9bf583f99373497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483b531e5934bd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87be754a0a4589" /><Relationship Type="http://schemas.openxmlformats.org/officeDocument/2006/relationships/notesMaster" Target="/ppt/notesMasters/notesMaster1.xml" Id="Red17215cd2a8445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0728c3409475d" /><Relationship Type="http://schemas.openxmlformats.org/officeDocument/2006/relationships/notesMaster" Target="/ppt/notesMasters/notesMaster1.xml" Id="Rfed62def4686440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3810e041d7c4db3" /><Relationship Type="http://schemas.openxmlformats.org/officeDocument/2006/relationships/notesMaster" Target="/ppt/notesMasters/notesMaster1.xml" Id="R4b6abd6f37ee4b2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589ab670b264684" /><Relationship Type="http://schemas.openxmlformats.org/officeDocument/2006/relationships/notesMaster" Target="/ppt/notesMasters/notesMaster1.xml" Id="R1b4e672c87994ad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05e2b72a1e440e" /><Relationship Type="http://schemas.openxmlformats.org/officeDocument/2006/relationships/notesMaster" Target="/ppt/notesMasters/notesMaster1.xml" Id="Ra5b38f8294e544c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e84b5225af4309" /><Relationship Type="http://schemas.openxmlformats.org/officeDocument/2006/relationships/notesMaster" Target="/ppt/notesMasters/notesMaster1.xml" Id="Rcbbcb6f2560d412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e37a970ecaa4552" /><Relationship Type="http://schemas.openxmlformats.org/officeDocument/2006/relationships/notesMaster" Target="/ppt/notesMasters/notesMaster1.xml" Id="R0470bc0a44434f3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1bbbeb81fe74e1e" /><Relationship Type="http://schemas.openxmlformats.org/officeDocument/2006/relationships/notesMaster" Target="/ppt/notesMasters/notesMaster1.xml" Id="R233fd195fe5042c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0701c1f4ae4483a" /><Relationship Type="http://schemas.openxmlformats.org/officeDocument/2006/relationships/notesMaster" Target="/ppt/notesMasters/notesMaster1.xml" Id="R12bfa589943d476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f54c17106cf4ea0" /><Relationship Type="http://schemas.openxmlformats.org/officeDocument/2006/relationships/notesMaster" Target="/ppt/notesMasters/notesMaster1.xml" Id="R48564f4a399c4e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d389465ad704b8c" /><Relationship Type="http://schemas.openxmlformats.org/officeDocument/2006/relationships/notesMaster" Target="/ppt/notesMasters/notesMaster1.xml" Id="R2602c931980f4a6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4fa6c621a194219" /><Relationship Type="http://schemas.openxmlformats.org/officeDocument/2006/relationships/notesMaster" Target="/ppt/notesMasters/notesMaster1.xml" Id="Rb48377de9fb34d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75e2fee54942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8b55fc4e914acd" /><Relationship Type="http://schemas.openxmlformats.org/officeDocument/2006/relationships/slideLayout" Target="/ppt/slideLayouts/slideLayout1.xml" Id="Red355f25b52c4c4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355f25b52c4c4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1c9253351841e2" /><Relationship Type="http://schemas.openxmlformats.org/officeDocument/2006/relationships/notesSlide" Target="/ppt/notesSlides/notesSlide1.xml" Id="R2e1bfd12309b450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87316db0c542cd" /><Relationship Type="http://schemas.openxmlformats.org/officeDocument/2006/relationships/notesSlide" Target="/ppt/notesSlides/notesSlide2.xml" Id="R8c7b07f574244a9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fd2183123748b0" /><Relationship Type="http://schemas.openxmlformats.org/officeDocument/2006/relationships/notesSlide" Target="/ppt/notesSlides/notesSlide3.xml" Id="Re4f9ae4969f949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2f18a0ad9b46db" /><Relationship Type="http://schemas.openxmlformats.org/officeDocument/2006/relationships/notesSlide" Target="/ppt/notesSlides/notesSlide4.xml" Id="R8dd788b1e5634b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a1de51fbb24600" /><Relationship Type="http://schemas.openxmlformats.org/officeDocument/2006/relationships/notesSlide" Target="/ppt/notesSlides/notesSlide5.xml" Id="R85272572cab345d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8130a4e3fe4fc8" /><Relationship Type="http://schemas.openxmlformats.org/officeDocument/2006/relationships/notesSlide" Target="/ppt/notesSlides/notesSlide6.xml" Id="R8c66806f20bc47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e447e4605b4d59" /><Relationship Type="http://schemas.openxmlformats.org/officeDocument/2006/relationships/image" Target="/ppt/media/image.png" Id="Rea856092716c46b9" /><Relationship Type="http://schemas.openxmlformats.org/officeDocument/2006/relationships/image" Target="/ppt/media/image2.png" Id="R5f2eab3fca7545d7" /><Relationship Type="http://schemas.openxmlformats.org/officeDocument/2006/relationships/image" Target="/ppt/media/image3.png" Id="Ra39f1f7476df4789" /><Relationship Type="http://schemas.openxmlformats.org/officeDocument/2006/relationships/notesSlide" Target="/ppt/notesSlides/notesSlide7.xml" Id="R6ef50509b9604a7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aef1cc25d84016" /><Relationship Type="http://schemas.openxmlformats.org/officeDocument/2006/relationships/notesSlide" Target="/ppt/notesSlides/notesSlide8.xml" Id="Rda3743e73f874f5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f69e8b5fb49b6" /><Relationship Type="http://schemas.openxmlformats.org/officeDocument/2006/relationships/notesSlide" Target="/ppt/notesSlides/notesSlide9.xml" Id="R2f1394a17df84b1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00cb922c664974" /><Relationship Type="http://schemas.openxmlformats.org/officeDocument/2006/relationships/notesSlide" Target="/ppt/notesSlides/notesSlide10.xml" Id="R4fc4ede2de67437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e3704c511147c7" /><Relationship Type="http://schemas.openxmlformats.org/officeDocument/2006/relationships/notesSlide" Target="/ppt/notesSlides/notesSlide11.xml" Id="R47fad189e0fa412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707eddf89e42d1" /><Relationship Type="http://schemas.openxmlformats.org/officeDocument/2006/relationships/notesSlide" Target="/ppt/notesSlides/notesSlide12.xml" Id="R7f23719292f84d2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A1A28A-B1A8-4C0D-90C5-D17A3AC63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9525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JM y JS Alimentos LMS v2.0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432DD7-734C-4781-A2CD-5E06A14D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71650"/>
            <a:ext cx="2095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5F9C6-7106-4128-801C-A5ED21AC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685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22222"/>
                </a:solidFill>
              </a:defRPr>
            </a:pPr>
            <a:r>
              <a:rPr sz="2025" b="0">
                <a:solidFill>
                  <a:srgbClr val="222222"/>
                </a:solidFill>
              </a:rPr>
              <a:t>Plataforma web de capacitación, e-commerce y gestión de calidad para la industria alimentaria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B3B60D-35E9-476D-932B-3BBD56439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6858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Informe final · Grupo 03</a:t>
            </a:r>
          </a:p>
          <a:p xmlns:a="http://schemas.openxmlformats.org/drawingml/2006/main">
            <a:pPr algn="l">
              <a:defRPr sz="1650" b="0">
                <a:solidFill>
                  <a:srgbClr val="555555"/>
                </a:solidFill>
              </a:defRPr>
            </a:pPr>
            <a:r>
              <a:rPr sz="1650" b="0">
                <a:solidFill>
                  <a:srgbClr val="555555"/>
                </a:solidFill>
              </a:rPr>
              <a:t>Omar Terbullino · Giancarlo Guerrero · Roger Canchumanya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E3B01-85F4-4D0A-B693-DA30F7D3F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876300"/>
            <a:ext cx="299085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F0C3C5-655A-401B-98D3-9C2906E97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3144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89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B0936F-03CF-4169-805E-73F42F2A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0002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pruebas automatizadas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933C46-9A11-4E59-8924-2B8AFFA1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860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426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5B0B7DA-88A9-41CD-8B43-4049CEBC0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718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aserciones declaradas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DBDAE1-99FD-49F2-9B29-B955D4991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057650"/>
            <a:ext cx="2190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D385D9-10D0-4882-A710-CB5DBB609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743450"/>
            <a:ext cx="2190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normas ISO aplicadas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039F9F-0EBD-43AE-BB2C-B0BFA461A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01</a:t>
            </a:r>
          </a:p>
        </p:txBody>
      </p:sp>
    </p:spTree>
    <p:extLst>
      <p:ext uri="{BB962C8B-B14F-4D97-AF65-F5344CB8AC3E}">
        <p14:creationId xmlns:p14="http://schemas.microsoft.com/office/powerpoint/2010/main" val="17453833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31CD0DE-D7EC-40EA-AA25-D46633F34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Contexto organizacional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23FE43-2062-47AE-83A9-C8FD4FEF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Problema que resuelve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FE906F-B530-4431-BA39-977F7C2C9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79A042-F3F3-4F07-BAF1-2A5FD979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BF5A74-9145-40F9-9843-9DDFF1453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5334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Ventas y atención dependían de WhatsApp, redes sociales y validación manual de vouchers.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El coordinador digital era cuello de botella para consultas, pagos y entrega de materiales.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La operación no escalaba fuera de horario ni permitía trazabilidad completa.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El flujo manual elevaba riesgos de error, fraude, pérdida de información y baja satisfacción.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806A0A-F33F-4EF7-AAA4-B19E14759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52625"/>
            <a:ext cx="447675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FD6E5-B3D9-422C-B782-18DC0ED0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AS-IS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D2324B7-F861-4C5C-9E65-AD648496C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3619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222222"/>
                </a:solidFill>
              </a:defRPr>
            </a:pPr>
            <a:r>
              <a:rPr sz="1950" b="0">
                <a:solidFill>
                  <a:srgbClr val="222222"/>
                </a:solidFill>
              </a:rPr>
              <a:t>Redes sociales → WhatsApp → voucher manual → registro manual → entrega manual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D3A0B1-8E53-43D2-B380-5BA049A3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62450"/>
            <a:ext cx="361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Impacto: latencia, dependencia humana y baja trazabilidad.</a:t>
            </a:r>
          </a:p>
        </p:txBody>
      </p:sp>
    </p:spTree>
    <p:extLst>
      <p:ext uri="{BB962C8B-B14F-4D97-AF65-F5344CB8AC3E}">
        <p14:creationId xmlns:p14="http://schemas.microsoft.com/office/powerpoint/2010/main" val="209716618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48A4B9-A79B-42F5-AC79-27733B341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LMS v2.0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A813DE-BF54-4570-B818-045AF5EE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Solución implementada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2338AB-511B-4D98-9F3B-65D2AE2EE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06437C-65DB-46BB-80B6-F00B782F5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904280-5197-4C7C-9887-FE4FF045D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764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F572D4-2A8C-4870-9E8F-E4AD6F3E9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Catálogo y ventas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258B83-B869-43C1-81E8-F5F5E60C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099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Cursos públicos, carrito, cupones y Stripe Checkout.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859D77-BB54-4D88-BFE2-82F1A278E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0764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6B4049-00B7-42CD-85B1-51E68F9AA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3241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Aula virtual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BA0AB3-1148-4939-9325-A1E1DB0AB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099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Matrículas, módulos, materiales y progreso del estudiante.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68A8B3-FC72-4ECA-96CE-8D69C709D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764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71E9A-1A23-420A-B8D3-E02917817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241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Panel admin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C2BC76-3AFD-4E5F-AE58-CECCCD1A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0099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Cursos, usuarios, roles, ventas, contactos, auditoría y KPIs.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19EE92-6025-46A5-BAE8-2E8E9F70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076450"/>
            <a:ext cx="22669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D941BB-B37B-45D9-940C-A5B615A7A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324100"/>
            <a:ext cx="1847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IA y soporte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BE6E2-327A-4199-A4D6-C7584E86B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009900"/>
            <a:ext cx="1809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Chatbot con Gemini y derivación hacia atención humana.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2C86A8-1C78-4084-84F7-3B7B07271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48250"/>
            <a:ext cx="933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TO-BE: experiencia transaccional propia, trazable y preparada para aseguramiento de calidad.</a:t>
            </a:r>
          </a:p>
        </p:txBody>
      </p:sp>
    </p:spTree>
    <p:extLst>
      <p:ext uri="{BB962C8B-B14F-4D97-AF65-F5344CB8AC3E}">
        <p14:creationId xmlns:p14="http://schemas.microsoft.com/office/powerpoint/2010/main" val="745717362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70C699A-122B-4649-AA03-9BC3B8336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Laravel + servicios externos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C7C7CA-B4E1-4890-82A9-CD4B6AB8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Arquitectura tecnológica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37FC53-34E3-4ACC-9262-18493818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6F9D39-EEBF-41B0-BB2F-3E1E98128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712E45-D2A2-4283-B071-8AE4A0F51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098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9AE1BA-5DD6-4971-8A94-999D14FB6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38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Presentación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C7C8E-A847-42AE-B039-3923176C0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009900"/>
            <a:ext cx="1695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Blade + Tailwind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React solo en chatbot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1287AE-F28A-421A-B76C-F656C01B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8003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4D2DBF-D92E-439F-91A2-20BADD8F0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098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C0875-FC10-4786-8B8B-2BC452DD9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438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Negocio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B4D6EA-94D5-4A16-821C-358F13059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09900"/>
            <a:ext cx="1695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Controladores Laravel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Servicios y validaciones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A9C6BE-C44F-4214-B77A-0416A416C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8003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5867C6-B382-43C9-9CE8-D28AD3188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2098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802B4C-35F3-4DD5-9E16-9C8AD4AB2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38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Datos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1274AF-6AC4-498D-B314-BA9AEB10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009900"/>
            <a:ext cx="1695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MySQL operativo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SQLite in-memory en QA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331355-58F3-4FD8-9A13-E4B0327D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00350"/>
            <a:ext cx="3238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6B35"/>
                </a:solidFill>
              </a:defRPr>
            </a:pPr>
            <a:r>
              <a:rPr sz="2400" b="1">
                <a:solidFill>
                  <a:srgbClr val="FF6B35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C023CB-BD57-471D-AC1C-D6EB0C22D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2209800"/>
            <a:ext cx="2095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8277B7-3837-4E54-AC8A-EF9B4EEC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4384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00000"/>
                </a:solidFill>
              </a:defRPr>
            </a:pPr>
            <a:r>
              <a:rPr sz="1875" b="1">
                <a:solidFill>
                  <a:srgbClr val="000000"/>
                </a:solidFill>
              </a:rPr>
              <a:t>Externos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BD036C-F5A6-4E41-91C8-5D370AE49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3009900"/>
            <a:ext cx="16954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Stripe Checkout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Google Gemini API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A4C70FD-72D8-4E65-97EF-CE8F66082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86300"/>
            <a:ext cx="9525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MVC con separación entre vistas, controladores, modelos Eloquent y servicios.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Servicios externos aislados mediante mocks en pruebas automatizadas.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Control de acceso basado en roles/permisos y flag legacy protegido.</a:t>
            </a:r>
          </a:p>
        </p:txBody>
      </p:sp>
    </p:spTree>
    <p:extLst>
      <p:ext uri="{BB962C8B-B14F-4D97-AF65-F5344CB8AC3E}">
        <p14:creationId xmlns:p14="http://schemas.microsoft.com/office/powerpoint/2010/main" val="16990239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70A8FF1-0F0C-4C20-A1D6-82FC79C9E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9001 · 25000 · 29119 · 27000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0CE354-E1BD-4C8C-B197-816683B32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Enfoque de calidad ISO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898B24-7940-4CE9-A09D-DF3DED948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6F8EC-7E4F-4329-A7FE-565FF524F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33FD9D-983F-497D-AC3E-D2D23275C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240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ISO 9001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F66568-494D-42E4-A351-4D801642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19240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Gestion de calidad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53BDC1-D03A-47F4-9B14-CC6980932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9240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Procesos, evidencias, mejora y satisfacción del cliente.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5E9BE4-3763-4965-A0BD-9066F520A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07F993-27A0-457B-B4A3-E587DB7A4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432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ISO/IEC 25000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49DD82-8432-42FC-80E4-BBE3C8640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7432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Calidad del producto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69429D-4F25-498D-BBF0-19E4D01E6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7432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Funcionalidad, seguridad, mantenibilidad, usabilidad y portabilidad.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022677-1FEA-4C05-875E-923532EE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956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28B56A-9476-4D67-9918-B41230850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623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B35"/>
                </a:solidFill>
              </a:defRPr>
            </a:pPr>
            <a:r>
              <a:rPr sz="1800" b="1">
                <a:solidFill>
                  <a:srgbClr val="FF6B35"/>
                </a:solidFill>
              </a:rPr>
              <a:t>ISO/IEC 29119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A67013-F9E5-42ED-84C9-D5911485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5623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Pruebas de software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8D8C60-F054-4E41-A59B-0372280C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623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Plan, diseño, ejecución, automatización y métricas.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698035-5A35-4F37-A600-443A397AE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3013B2-3815-4C41-A2EB-726F4A8D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3815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ISO/IEC 27000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EE05EA-D99E-420A-A90B-A1043F4E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38150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Seguridad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0D850D-F57A-427B-8754-77657FAB4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3815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Secretos fuera del código, roles, auditoría, privacidad y HTTPS requerido.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2C52E3-B645-4FE8-9A61-6D49AA563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33950"/>
            <a:ext cx="9753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94269872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FDD1ADA-E1D3-440F-B376-9E57551BF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PHPUnit + SQLite in-memory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446AC-307A-435D-A701-3CA9C06B2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Estrategia de pruebas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6B37C5-3B96-4BE3-A0BB-1B31AFE1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A1A72A-686C-4FA9-B771-751C54CF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E92441-B563-48C7-8EE7-3E24297D3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38350"/>
            <a:ext cx="2381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6B35"/>
                </a:solidFill>
              </a:defRPr>
            </a:pPr>
            <a:r>
              <a:rPr sz="4050" b="1">
                <a:solidFill>
                  <a:srgbClr val="FF6B35"/>
                </a:solidFill>
              </a:rPr>
              <a:t>89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16F8B7-5B5C-44FB-B7D1-C471A0A9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24150"/>
            <a:ext cx="2381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tests declarados para la suite final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35262C-91A0-46B7-AB31-6F99DD49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038350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426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7E76FF-A18E-4235-8E5A-84DEEEFFD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724150"/>
            <a:ext cx="304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aserciones a validar con ejecución final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3E89F-4DDE-4B32-B092-4551CC285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38350"/>
            <a:ext cx="266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00000"/>
                </a:solidFill>
              </a:defRPr>
            </a:pPr>
            <a:r>
              <a:rPr sz="4050" b="1">
                <a:solidFill>
                  <a:srgbClr val="000000"/>
                </a:solidFill>
              </a:rPr>
              <a:t>21/21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17A189-359A-42E8-9EE5-D5D50C34E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266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RF cubiertos por matriz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1BB4F4-1181-40F9-A7B5-E53A3E2B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Feature tests para pagos, catálogo, aula, administración, roles y chatbot.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Unit tests para relaciones LMS, publicación de cursos y videos embebidos.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Mocks para Stripe y Gemini; no se consumen APIs externas durante QA.</a:t>
            </a:r>
          </a:p>
          <a:p xmlns:a="http://schemas.openxmlformats.org/drawingml/2006/main">
            <a:pPr algn="l">
              <a:defRPr sz="1425" b="0">
                <a:solidFill>
                  <a:srgbClr val="222222"/>
                </a:solidFill>
              </a:defRPr>
            </a:pPr>
            <a:r>
              <a:rPr sz="1425" b="0">
                <a:solidFill>
                  <a:srgbClr val="222222"/>
                </a:solidFill>
              </a:rPr>
              <a:t>• Pendiente operativo: correr suite completa tras `composer install` y guardar captura final.</a:t>
            </a:r>
          </a:p>
        </p:txBody>
      </p:sp>
    </p:spTree>
    <p:extLst>
      <p:ext uri="{BB962C8B-B14F-4D97-AF65-F5344CB8AC3E}">
        <p14:creationId xmlns:p14="http://schemas.microsoft.com/office/powerpoint/2010/main" val="132797034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A0C4CE-964D-4C7B-AB56-5E301A77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Capturas reales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68C5C6-6404-4E04-8261-1C58EE14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Evidencia del producto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5E332-779C-42C7-861E-59DD66B98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227A10-7DE6-42C6-9446-84470AF30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07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856092716c46b9"/>
          <a:srcRect xmlns:a="http://schemas.openxmlformats.org/drawingml/2006/main" l="0" t="39689" r="0" b="396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809750"/>
            <a:ext cx="3143250" cy="23812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2eab3fca7545d7"/>
          <a:srcRect xmlns:a="http://schemas.openxmlformats.org/drawingml/2006/main" l="0" t="20706" r="0" b="2070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476750" y="1809750"/>
            <a:ext cx="3143250" cy="2381250"/>
          </a:xfrm>
          <a:prstGeom xmlns:a="http://schemas.openxmlformats.org/drawingml/2006/main" prst="rect">
            <a:avLst/>
          </a:prstGeom>
        </p:spPr>
      </p:pic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9f1f7476df4789"/>
          <a:srcRect xmlns:a="http://schemas.openxmlformats.org/drawingml/2006/main" l="0" t="3019" r="0" b="30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0" y="1809750"/>
            <a:ext cx="3143250" cy="2381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AC3F45-95CF-44E9-BC24-D4A9D0A62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Público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611A16-F398-4EB3-9D1C-BA3872A9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38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Administración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4F8888-E823-4946-B4A9-E485F4F8A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438650"/>
            <a:ext cx="3143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00000"/>
                </a:solidFill>
              </a:defRPr>
            </a:pPr>
            <a:r>
              <a:rPr sz="1650" b="1">
                <a:solidFill>
                  <a:srgbClr val="000000"/>
                </a:solidFill>
              </a:rPr>
              <a:t>Estudiante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18FA05-4E64-4A5A-9E9B-8128462A2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095875"/>
            <a:ext cx="914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55555"/>
                </a:solidFill>
              </a:defRPr>
            </a:pPr>
            <a:r>
              <a:rPr sz="1350" b="1">
                <a:solidFill>
                  <a:srgbClr val="555555"/>
                </a:solidFill>
              </a:rPr>
              <a:t>Las capturas base fueron tomadas sobre `http://127.0.0.1:8000` y se usan como evidencia de demo local.</a:t>
            </a:r>
          </a:p>
        </p:txBody>
      </p:sp>
    </p:spTree>
    <p:extLst>
      <p:ext uri="{BB962C8B-B14F-4D97-AF65-F5344CB8AC3E}">
        <p14:creationId xmlns:p14="http://schemas.microsoft.com/office/powerpoint/2010/main" val="82894426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9BFDC-942B-4651-8C76-977E64F50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Demo local vs producción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2DEBA0-09E5-426D-A16D-276BD475A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Estado de despliegue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AA9BBD-3B9C-4EE2-AE47-B96C32CCB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7F56CF-02BA-4B45-9D2E-28626B647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25A76A-C78F-44C3-845F-564B5DE97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9621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605570-0FC5-4FAF-BDBF-A048AEE98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Estado actual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0C2EBC-1222-42AC-87C9-555ED4B66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7655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22222"/>
                </a:solidFill>
              </a:defRPr>
            </a:pPr>
            <a:r>
              <a:rPr sz="1800" b="0">
                <a:solidFill>
                  <a:srgbClr val="222222"/>
                </a:solidFill>
              </a:rPr>
              <a:t>MVP funcional avanzado para demostración académica y pruebas internas.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7C60D9C-DBDD-4D10-8BC1-DCB85575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9621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D5EACB-0482-4077-80A6-97E490845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479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F6B35"/>
                </a:solidFill>
              </a:defRPr>
            </a:pPr>
            <a:r>
              <a:rPr sz="2250" b="1">
                <a:solidFill>
                  <a:srgbClr val="FF6B35"/>
                </a:solidFill>
              </a:rPr>
              <a:t>Antes de producción real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21722A-D232-44C2-9FB0-A66CDBE7F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390525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URL pública HTTPS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Stripe live + webhook firmado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llaves rotadas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suite contra MySQL staging</a:t>
            </a:r>
          </a:p>
          <a:p xmlns:a="http://schemas.openxmlformats.org/drawingml/2006/main">
            <a:pPr algn="l">
              <a:defRPr sz="1350" b="0">
                <a:solidFill>
                  <a:srgbClr val="222222"/>
                </a:solidFill>
              </a:defRPr>
            </a:pPr>
            <a:r>
              <a:rPr sz="1350" b="0">
                <a:solidFill>
                  <a:srgbClr val="222222"/>
                </a:solidFill>
              </a:rPr>
              <a:t>• revisión CSP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BDE713-C797-4B1B-B67D-5A8A140DE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Mensaje clave: no declarar producción comercial hasta cerrar estos controles.</a:t>
            </a:r>
          </a:p>
        </p:txBody>
      </p:sp>
    </p:spTree>
    <p:extLst>
      <p:ext uri="{BB962C8B-B14F-4D97-AF65-F5344CB8AC3E}">
        <p14:creationId xmlns:p14="http://schemas.microsoft.com/office/powerpoint/2010/main" val="150843681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5970EC-8C61-4153-B34A-34B3FEEDB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INDECOPI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2B7BD8-B84F-4307-A9D2-F057E9D28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Estado legal y documentación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9440DC-580E-4F1F-B7EC-2C9532A69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A23941-26C7-4113-AF3C-58CB8C4DB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B24077-A9CF-4B59-BDAA-84CB9442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62150"/>
            <a:ext cx="5619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Vía principal: registro de software por derecho de autor.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Marca: pendiente de definir denominación, logo, titular y clase.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Patente: no recomendada salvo invención técnica concreta más allá del LMS.</a:t>
            </a:r>
          </a:p>
          <a:p xmlns:a="http://schemas.openxmlformats.org/drawingml/2006/main">
            <a:pPr algn="l">
              <a:defRPr sz="1650" b="0">
                <a:solidFill>
                  <a:srgbClr val="222222"/>
                </a:solidFill>
              </a:defRPr>
            </a:pPr>
            <a:r>
              <a:rPr sz="1650" b="0">
                <a:solidFill>
                  <a:srgbClr val="222222"/>
                </a:solidFill>
              </a:rPr>
              <a:t>• Pendientes: titular legal, cesiones, licencias de activos, ZIP limpio y hash SHA256.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A3969B-B21D-4DB8-81EB-382E056DC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19300"/>
            <a:ext cx="371475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0AE535-2E1A-411C-9A1A-7CCFF275B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2669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00000"/>
                </a:solidFill>
              </a:defRPr>
            </a:pPr>
            <a:r>
              <a:rPr sz="2250" b="1">
                <a:solidFill>
                  <a:srgbClr val="000000"/>
                </a:solidFill>
              </a:rPr>
              <a:t>Evidencias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648EB4A-F36F-4013-95FD-9F4433358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857500"/>
            <a:ext cx="285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documentacion/INDECOPI/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memoria técnica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inventario PI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modelos de declaraciones</a:t>
            </a:r>
          </a:p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checklist pre-presentación</a:t>
            </a:r>
          </a:p>
        </p:txBody>
      </p:sp>
    </p:spTree>
    <p:extLst>
      <p:ext uri="{BB962C8B-B14F-4D97-AF65-F5344CB8AC3E}">
        <p14:creationId xmlns:p14="http://schemas.microsoft.com/office/powerpoint/2010/main" val="66658908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A1598F4-D2B6-4B54-A183-86EA833C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Cierre documental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CD999F-8633-44D2-B63B-879B7503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Pendientes 8 al 15 implementados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A82F8E-8A17-40B3-8AB2-BA1D075EA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0E1667-6864-4D50-9846-4AC98D49E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368626-2FB5-4D17-9FF1-2A9ED939D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859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BF12D3-7539-4BEC-9214-ACE33871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08 métricas de pruebas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BAD41A-B7F8-4C34-A421-A6E518D30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8859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45D9BC-0F90-495E-9E12-1EF75701E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000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09 matriz de doble entrada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4192C7-9AF3-49BE-812B-39F194065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479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9D826B-D86C-4806-9B3F-427919F89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62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10 anexos macroprocesos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8B4DDB-F6B0-40CE-A7C1-8D3A1B88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6479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E5D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B55757-CA77-4575-89D4-4BB4B6FB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62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6B35"/>
                </a:solidFill>
              </a:defRPr>
            </a:pPr>
            <a:r>
              <a:rPr sz="1575" b="1">
                <a:solidFill>
                  <a:srgbClr val="FF6B35"/>
                </a:solidFill>
              </a:rPr>
              <a:t>11 DEF-001 corregido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6A2830-C6CF-4FCA-A8D1-110969C5A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4099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9419EE-2E25-44C6-B1F9-94ACE1CA9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24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12 estado legal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FA68128-759E-418B-A55F-89175E7E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099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7DD094-9DCE-4F18-9207-5714E9BA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24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13 mantenimiento SQ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9D7E49-C006-410C-999C-8EE672549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719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D6A0E-052D-48B2-AB83-E7B0460C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86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14 privacidad/licencias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422398E-11CD-4F53-A536-E9AA7089D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171950"/>
            <a:ext cx="4191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3034DEF-0E73-4174-881E-94EECD83D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286250"/>
            <a:ext cx="361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00000"/>
                </a:solidFill>
              </a:defRPr>
            </a:pPr>
            <a:r>
              <a:rPr sz="1575" b="1">
                <a:solidFill>
                  <a:srgbClr val="000000"/>
                </a:solidFill>
              </a:rPr>
              <a:t>15 conclusiones ajustadas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66B8439-092B-49AB-9C3D-5DD6FB40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52197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55555"/>
                </a:solidFill>
              </a:defRPr>
            </a:pPr>
            <a:r>
              <a:rPr sz="1500" b="1">
                <a:solidFill>
                  <a:srgbClr val="555555"/>
                </a:solidFill>
              </a:rPr>
              <a:t>Los archivos quedan en `documentacion/cierre_informe_final/` y el cierre de DEF-001 modifica modelo, controlador y prueba.</a:t>
            </a:r>
          </a:p>
        </p:txBody>
      </p:sp>
    </p:spTree>
    <p:extLst>
      <p:ext uri="{BB962C8B-B14F-4D97-AF65-F5344CB8AC3E}">
        <p14:creationId xmlns:p14="http://schemas.microsoft.com/office/powerpoint/2010/main" val="10452217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370874-5961-4511-94E0-203D27E6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555555"/>
                </a:solidFill>
              </a:defRPr>
            </a:pPr>
            <a:r>
              <a:rPr sz="1125" b="1">
                <a:solidFill>
                  <a:srgbClr val="555555"/>
                </a:solidFill>
              </a:rPr>
              <a:t>Equipo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01BB19-B424-4488-A2D1-D030A000B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81050"/>
            <a:ext cx="8763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000000"/>
                </a:solidFill>
              </a:defRPr>
            </a:pPr>
            <a:r>
              <a:rPr sz="2925" b="1">
                <a:solidFill>
                  <a:srgbClr val="000000"/>
                </a:solidFill>
              </a:rPr>
              <a:t>Reparto sugerido de sustentación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FEAC8E-BD9A-4720-AD5F-7FABEA9E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52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CD6C5F-8B8D-4EC1-8A33-EE4CE707B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FBE76C-3B56-4709-9E20-238356D73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52650"/>
            <a:ext cx="2724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9BA4A-C6AE-40FA-A62D-45671C34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419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Omar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005FDF-2F25-4ECA-B6C8-355273B0F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08610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Repositorio, arquitectura, despliegue y demo.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171196-827C-4C3E-8F3F-2F0CF0617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52650"/>
            <a:ext cx="2724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B3C2D-117C-456A-91DB-F10431953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419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Giancarlo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4C99F0-F8AB-4535-8F89-E238DCE1C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8610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Pruebas, ISO 29119, métricas y calidad.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A977D9-0714-4BFB-B329-F95AB2BA3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152650"/>
            <a:ext cx="27241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C7E6DE-7AC8-484F-A17F-9077531FD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1935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000000"/>
                </a:solidFill>
              </a:defRPr>
            </a:pPr>
            <a:r>
              <a:rPr sz="2625" b="1">
                <a:solidFill>
                  <a:srgbClr val="000000"/>
                </a:solidFill>
              </a:rPr>
              <a:t>Roger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8FB91C-E91E-4D6F-B251-36C15416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086100"/>
            <a:ext cx="21336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22222"/>
                </a:solidFill>
              </a:defRPr>
            </a:pPr>
            <a:r>
              <a:rPr sz="1500" b="0">
                <a:solidFill>
                  <a:srgbClr val="222222"/>
                </a:solidFill>
              </a:rPr>
              <a:t>Diseño, matriz, macroprocesos y legal/INDECOPI.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8A61A-9A03-48B9-98FD-928A1F622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29200"/>
            <a:ext cx="819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6B35"/>
                </a:solidFill>
              </a:defRPr>
            </a:pPr>
            <a:r>
              <a:rPr sz="1650" b="1">
                <a:solidFill>
                  <a:srgbClr val="FF6B35"/>
                </a:solidFill>
              </a:rPr>
              <a:t>Nota: confirmar módulo real por integrante con commits antes de exponer.</a:t>
            </a:r>
          </a:p>
        </p:txBody>
      </p:sp>
    </p:spTree>
    <p:extLst>
      <p:ext uri="{BB962C8B-B14F-4D97-AF65-F5344CB8AC3E}">
        <p14:creationId xmlns:p14="http://schemas.microsoft.com/office/powerpoint/2010/main" val="17566903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D73CAFE-1E77-4C16-93CF-E8975E970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4000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00000"/>
                </a:solidFill>
              </a:defRPr>
            </a:pPr>
            <a:r>
              <a:rPr sz="4200" b="1">
                <a:solidFill>
                  <a:srgbClr val="000000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151555-8EF9-4B4E-804A-8725D5A6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1809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38CF63-18A0-4A69-B8AC-897299019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88582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22222"/>
                </a:solidFill>
              </a:defRPr>
            </a:pPr>
            <a:r>
              <a:rPr sz="2250" b="0">
                <a:solidFill>
                  <a:srgbClr val="222222"/>
                </a:solidFill>
              </a:rPr>
              <a:t>El LMS queda sustentado como MVP funcional avanzado: probado, documentado y alineado a estándares. El paso siguiente es validar suite final, publicar URL o documentar demo local, y completar titularidad legal.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33B6A0-E451-4CB1-BF8B-A4CDC5D1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48150"/>
            <a:ext cx="933450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292FC9-E50F-44FA-AB3E-87A8F8DBE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76750"/>
            <a:ext cx="838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00000"/>
                </a:solidFill>
              </a:defRPr>
            </a:pPr>
            <a:r>
              <a:rPr sz="1950" b="1">
                <a:solidFill>
                  <a:srgbClr val="000000"/>
                </a:solidFill>
              </a:rPr>
              <a:t>Mensaje para clase: calidad verificable, trazabilidad y límites reales del despliegue.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42818C-EBBB-40E3-BF47-63C18660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9850"/>
            <a:ext cx="685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55555"/>
                </a:solidFill>
              </a:defRPr>
            </a:pPr>
            <a:r>
              <a:rPr sz="975" b="1">
                <a:solidFill>
                  <a:srgbClr val="555555"/>
                </a:solidFill>
              </a:rPr>
              <a:t>Grupo 03 · Pruebas y Calidad de Software · 12</a:t>
            </a:r>
          </a:p>
        </p:txBody>
      </p:sp>
    </p:spTree>
    <p:extLst>
      <p:ext uri="{BB962C8B-B14F-4D97-AF65-F5344CB8AC3E}">
        <p14:creationId xmlns:p14="http://schemas.microsoft.com/office/powerpoint/2010/main" val="9899999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2026-06-27T21:58:02.3140000Z</dcterms:created>
  <dcterms:modified xsi:type="dcterms:W3CDTF">2026-06-27T21:58:02.3140000Z</dcterms:modified>
</coreProperties>
</file>